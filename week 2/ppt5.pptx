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Comparison</a:t>
            </a:r>
            <a:r>
              <a:rPr lang="en-US" sz="1200" baseline="0" dirty="0"/>
              <a:t> of diameter of planets</a:t>
            </a:r>
            <a:endParaRPr lang="en-IN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MERCURY</c:v>
                </c:pt>
                <c:pt idx="1">
                  <c:v>VENUS</c:v>
                </c:pt>
                <c:pt idx="2">
                  <c:v>EARTH</c:v>
                </c:pt>
                <c:pt idx="3">
                  <c:v>MARS</c:v>
                </c:pt>
                <c:pt idx="4">
                  <c:v>JUPITER</c:v>
                </c:pt>
                <c:pt idx="5">
                  <c:v>SATURN </c:v>
                </c:pt>
                <c:pt idx="6">
                  <c:v>URANUS </c:v>
                </c:pt>
                <c:pt idx="7">
                  <c:v>NEPTUNE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4880</c:v>
                </c:pt>
                <c:pt idx="1">
                  <c:v>12104</c:v>
                </c:pt>
                <c:pt idx="2">
                  <c:v>12756</c:v>
                </c:pt>
                <c:pt idx="3">
                  <c:v>6792</c:v>
                </c:pt>
                <c:pt idx="4">
                  <c:v>142984</c:v>
                </c:pt>
                <c:pt idx="5">
                  <c:v>120536</c:v>
                </c:pt>
                <c:pt idx="6">
                  <c:v>51118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22-4451-8AB6-11A89FAECF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MERCURY</c:v>
                </c:pt>
                <c:pt idx="1">
                  <c:v>VENUS</c:v>
                </c:pt>
                <c:pt idx="2">
                  <c:v>EARTH</c:v>
                </c:pt>
                <c:pt idx="3">
                  <c:v>MARS</c:v>
                </c:pt>
                <c:pt idx="4">
                  <c:v>JUPITER</c:v>
                </c:pt>
                <c:pt idx="5">
                  <c:v>SATURN </c:v>
                </c:pt>
                <c:pt idx="6">
                  <c:v>URANUS </c:v>
                </c:pt>
                <c:pt idx="7">
                  <c:v>NEPTUNE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1-4D22-4451-8AB6-11A89FAECF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MERCURY</c:v>
                </c:pt>
                <c:pt idx="1">
                  <c:v>VENUS</c:v>
                </c:pt>
                <c:pt idx="2">
                  <c:v>EARTH</c:v>
                </c:pt>
                <c:pt idx="3">
                  <c:v>MARS</c:v>
                </c:pt>
                <c:pt idx="4">
                  <c:v>JUPITER</c:v>
                </c:pt>
                <c:pt idx="5">
                  <c:v>SATURN </c:v>
                </c:pt>
                <c:pt idx="6">
                  <c:v>URANUS </c:v>
                </c:pt>
                <c:pt idx="7">
                  <c:v>NEPTUNE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2-4D22-4451-8AB6-11A89FAEC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21323504"/>
        <c:axId val="2021321584"/>
      </c:barChart>
      <c:catAx>
        <c:axId val="202132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1321584"/>
        <c:crosses val="autoZero"/>
        <c:auto val="1"/>
        <c:lblAlgn val="ctr"/>
        <c:lblOffset val="100"/>
        <c:noMultiLvlLbl val="0"/>
      </c:catAx>
      <c:valAx>
        <c:axId val="202132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132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5123D-F716-4041-B892-F4DF3CF55CA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6E4D8-3B3D-4ABD-87B7-999118E55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596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6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0032F5-33C0-4F31-AF58-92A459704C02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91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30ADFC-6F13-4193-9551-CDDA2EFEC46D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087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3" name="wind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4124DB-C538-473C-9B7E-2335B8590719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5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3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943235-0482-4535-A288-15C6D88D785B}" type="datetime1">
              <a:rPr lang="en-IN" smtClean="0"/>
              <a:t>20-08-2026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76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16D3AB-0A81-4488-84F0-CA7290ABA921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75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E29EC3-4E3E-4C61-87C0-A396C1190E6C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4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75E125-32C5-42EC-9C50-80EEAAF504B9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5" name="wind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C2DE7B-82AD-4F8F-B856-F887E983CBA9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5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A01B5BD-E635-42D1-9D36-8A351CE08C7E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65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284FDC-A90D-45F9-9140-5ECCA07567A8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6759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0F42F625-5BD5-4013-90D0-56497BB19111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3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5351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3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4D50C37A-D835-4EF2-B519-6B1FA5755A16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65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A58C415-8F4B-4CB4-9210-BFEEA4C1867C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8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256D71DB-7F51-488B-AAF3-D4B27BC6C69D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816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41F0B725-8114-46D9-BD33-19E11EE94C5E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4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AFF64B6F-EBB4-46BF-AF2C-43C9AB13468A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3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5748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8C096DB-D565-4EDF-AFC1-5232476F8375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3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AA443866-3407-4EA0-9B2A-913FE60A2315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93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93715E-1D9D-4F97-83AC-29A228B0784B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70314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6E5AAD-AB12-4F8C-B1E6-7919D391D14D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466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ABA6C-30B2-44CF-8331-DD5C36785355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8381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91A96A-4CAB-4CBF-8537-034A1033137A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22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3" name="wind.wav"/>
          </p:stSnd>
        </p:sndAc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10610-3D8F-4B8A-B5E7-2B36024FF2C7}" type="datetime1">
              <a:rPr lang="en-IN" smtClean="0"/>
              <a:t>20-08-2026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0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3" name="wind.wav"/>
          </p:stSnd>
        </p:sndAc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720604-1E0F-4F22-8A21-D6B241FC82E0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17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3" name="wind.wav"/>
          </p:stSnd>
        </p:sndAc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09FE94-60E6-49F0-85D1-397C9D1C2FE7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68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3" name="wind.wav"/>
          </p:stSnd>
        </p:sndAc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47AF46-D57C-4FEC-A54C-A9134C98476F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631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98815-E8CB-4524-A622-A0A280EFFCDB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547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1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IN"/>
              <a:t>CAMS1PO1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259559E-6DF7-4495-AD02-C9FF25EC2443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C3E91C0-26CD-4ED6-AB47-41E004454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232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29" name="wind.wav"/>
          </p:stSnd>
        </p:sndAc>
      </p:transition>
    </mc:Choice>
    <mc:Fallback xmlns="">
      <p:transition spd="slow" advClick="0" advTm="3000">
        <p:sndAc>
          <p:stSnd>
            <p:snd r:embed="rId30" name="wind.wav"/>
          </p:stSnd>
        </p:sndAc>
      </p:transition>
    </mc:Fallback>
  </mc:AlternateConten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hyperlink" Target="https://en.wikipedia.org/wiki/Solar_System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BBA1-A0A3-467C-D0AB-4D33D537D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960" y="-690753"/>
            <a:ext cx="5896741" cy="2762187"/>
          </a:xfrm>
        </p:spPr>
        <p:txBody>
          <a:bodyPr/>
          <a:lstStyle/>
          <a:p>
            <a:r>
              <a:rPr lang="en-US" dirty="0"/>
              <a:t>EXPLORING SPACE</a:t>
            </a:r>
            <a:br>
              <a:rPr lang="en-US" dirty="0"/>
            </a:br>
            <a:r>
              <a:rPr lang="en-US" sz="1800" i="1" dirty="0"/>
              <a:t>From our solar system to universe</a:t>
            </a:r>
            <a:br>
              <a:rPr lang="en-IN" sz="1800" i="1" dirty="0"/>
            </a:br>
            <a:endParaRPr lang="en-IN" sz="1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4D5E3-3AE7-F2E0-8277-7479B9E93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256" y="4977955"/>
            <a:ext cx="3830874" cy="14966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BY SHIVANGI </a:t>
            </a:r>
          </a:p>
          <a:p>
            <a:pPr>
              <a:lnSpc>
                <a:spcPct val="100000"/>
              </a:lnSpc>
            </a:pPr>
            <a:r>
              <a:rPr lang="en-US" dirty="0"/>
              <a:t>DEPARTMENT OF COMPUTER SCIENCE</a:t>
            </a:r>
          </a:p>
          <a:p>
            <a:pPr>
              <a:lnSpc>
                <a:spcPct val="100000"/>
              </a:lnSpc>
            </a:pPr>
            <a:r>
              <a:rPr lang="en-US" dirty="0"/>
              <a:t>ALIGARH MUSLIM UNIVERSITY </a:t>
            </a:r>
          </a:p>
          <a:p>
            <a:pPr>
              <a:lnSpc>
                <a:spcPct val="100000"/>
              </a:lnSpc>
            </a:pPr>
            <a:r>
              <a:rPr lang="en-US" dirty="0"/>
              <a:t>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9A13C-D537-3228-F3CD-62522EED9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12" y="2001900"/>
            <a:ext cx="4849197" cy="323279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EAB1B-649B-B945-05F7-3E4C1D40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7B77-D595-431D-AAC7-F388CF299A4A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8E77F-A71E-BBFA-35A6-33E29485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BDE05-713E-DFA8-9A31-29DF42CF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E91C0-26CD-4ED6-AB47-41E004454BA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69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2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BD90C-644B-2C74-9B7A-6D89EC540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3" y="500862"/>
            <a:ext cx="9942409" cy="876193"/>
          </a:xfrm>
        </p:spPr>
        <p:txBody>
          <a:bodyPr/>
          <a:lstStyle/>
          <a:p>
            <a:r>
              <a:rPr lang="en-US" dirty="0"/>
              <a:t>OUR SOLAR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DCD4E-34B2-A36B-CF60-98B5003C9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5" y="1276350"/>
            <a:ext cx="7577327" cy="43053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Solar System consists of the Sun and eight planets.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planets orbit the Sun due to its gravitational force.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eight planets are: Mercury, Venus, Earth, Mars, Jupiter, Saturn, Uranus and Neptune.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Jupiter is the largest planet.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Earth is the only known planet to support life.</a:t>
            </a:r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60CCE82-55AC-376C-8E72-A50933F95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1893106"/>
              </p:ext>
            </p:extLst>
          </p:nvPr>
        </p:nvGraphicFramePr>
        <p:xfrm>
          <a:off x="1809579" y="3699728"/>
          <a:ext cx="3664712" cy="2480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F843744-36E1-D0F7-61BA-717FDE1D5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711" y="2875988"/>
            <a:ext cx="4538553" cy="30257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C2ADF-0FB0-46DD-276B-63DAB19F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B65-2DEC-44B2-905C-77ECD33E4CEC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F789F-A801-4B51-AA49-67E9CC9C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BC3A2-8D89-42E0-8919-F67B25FD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E91C0-26CD-4ED6-AB47-41E004454BA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21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2" name="wind.wav"/>
          </p:stSnd>
        </p:sndAc>
      </p:transition>
    </mc:Choice>
    <mc:Fallback xmlns="">
      <p:transition spd="slow" advClick="0" advTm="3000">
        <p:sndAc>
          <p:stSnd>
            <p:snd r:embed="rId5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91B4-1372-B7DF-6E3D-EF245300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UNIVERSE OF GALAXIES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9BBB4-26BB-8F0F-D81D-C5B7F80D6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8" y="2133600"/>
            <a:ext cx="5218338" cy="43053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 galaxy is a huge collection of stars, gas and dust held together by gravity.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Our galaxy is called the Milky Way.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Milky Way contains billions of stars.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universe contains billions of galaxies.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Galaxies can have different shapes, such as spiral, elliptical and irregular.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3E340-8ACC-2AD8-CFDE-40619C307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9703"/>
            <a:ext cx="5114731" cy="32454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BDEFF-8FBD-0622-C444-35D47121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77D44-CEBD-4084-99DB-A53BFF3D22EB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14805-FF86-02F7-2447-E3EFC7E7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CF1BC-009A-029C-69A1-F979454B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E91C0-26CD-4ED6-AB47-41E004454BA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8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2" name="wind.wav"/>
          </p:stSnd>
        </p:sndAc>
      </p:transition>
    </mc:Choice>
    <mc:Fallback xmlns="">
      <p:transition spd="slow" advClick="0" advTm="3000">
        <p:sndAc>
          <p:stSnd>
            <p:snd r:embed="rId4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B55D-9022-0D92-C4DE-36BEAABE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HUMANS BEYOND EARTH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78C61-584D-F226-CB40-F2DE8620B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664" y="2321868"/>
            <a:ext cx="2018919" cy="3575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FE7B2C-71EB-B5A0-31F1-93AFF2CB0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358" y="2328817"/>
            <a:ext cx="2378994" cy="356849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042FA9-DFEA-C172-44CD-DFC4DE30A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12170"/>
              </p:ext>
            </p:extLst>
          </p:nvPr>
        </p:nvGraphicFramePr>
        <p:xfrm>
          <a:off x="934963" y="2470664"/>
          <a:ext cx="5905754" cy="312329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38488">
                  <a:extLst>
                    <a:ext uri="{9D8B030D-6E8A-4147-A177-3AD203B41FA5}">
                      <a16:colId xmlns:a16="http://schemas.microsoft.com/office/drawing/2014/main" val="1927694409"/>
                    </a:ext>
                  </a:extLst>
                </a:gridCol>
                <a:gridCol w="4567266">
                  <a:extLst>
                    <a:ext uri="{9D8B030D-6E8A-4147-A177-3AD203B41FA5}">
                      <a16:colId xmlns:a16="http://schemas.microsoft.com/office/drawing/2014/main" val="1504699126"/>
                    </a:ext>
                  </a:extLst>
                </a:gridCol>
              </a:tblGrid>
              <a:tr h="280715">
                <a:tc>
                  <a:txBody>
                    <a:bodyPr/>
                    <a:lstStyle/>
                    <a:p>
                      <a:r>
                        <a:rPr lang="en-US" dirty="0"/>
                        <a:t>1957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First artificial satellite: Sputnik 1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872930"/>
                  </a:ext>
                </a:extLst>
              </a:tr>
              <a:tr h="562976">
                <a:tc>
                  <a:txBody>
                    <a:bodyPr/>
                    <a:lstStyle/>
                    <a:p>
                      <a:r>
                        <a:rPr lang="en-US" dirty="0"/>
                        <a:t>1961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First human in space: Yuri Gagarin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447575"/>
                  </a:ext>
                </a:extLst>
              </a:tr>
              <a:tr h="562976">
                <a:tc>
                  <a:txBody>
                    <a:bodyPr/>
                    <a:lstStyle/>
                    <a:p>
                      <a:r>
                        <a:rPr lang="en-US" dirty="0"/>
                        <a:t>1969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First humans on the Moon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93187"/>
                  </a:ext>
                </a:extLst>
              </a:tr>
              <a:tr h="562976">
                <a:tc>
                  <a:txBody>
                    <a:bodyPr/>
                    <a:lstStyle/>
                    <a:p>
                      <a:r>
                        <a:rPr lang="en-US" dirty="0"/>
                        <a:t>1998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International Space Station construction began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59367"/>
                  </a:ext>
                </a:extLst>
              </a:tr>
              <a:tr h="562976">
                <a:tc>
                  <a:txBody>
                    <a:bodyPr/>
                    <a:lstStyle/>
                    <a:p>
                      <a:r>
                        <a:rPr lang="en-US" dirty="0"/>
                        <a:t>Today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Space telescopes, robotic missions &amp; exploration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499423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FFAF3-5F9E-C56D-DB1F-B3DCE99E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DD16-CEC2-4A30-BFEA-E866AB7396CA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0402B-E8BD-769B-48D3-48236ECC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402DD-94A4-D154-F7E9-60217D29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E91C0-26CD-4ED6-AB47-41E004454BA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21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2" name="wind.wav"/>
          </p:stSnd>
        </p:sndAc>
      </p:transition>
    </mc:Choice>
    <mc:Fallback xmlns="">
      <p:transition spd="slow" advClick="0" advTm="3000">
        <p:sndAc>
          <p:stSnd>
            <p:snd r:embed="rId5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FF9124-293D-A7D8-63B8-88FF8FB47A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" y="-137160"/>
            <a:ext cx="12283439" cy="7132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1D8E29-7EE6-4DE0-0B26-AEBAA5D67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31" y="263118"/>
            <a:ext cx="9942409" cy="876193"/>
          </a:xfrm>
        </p:spPr>
        <p:txBody>
          <a:bodyPr/>
          <a:lstStyle/>
          <a:p>
            <a:r>
              <a:rPr lang="en-US" dirty="0"/>
              <a:t>THE FUTURE IS BEYOND EARTH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EB1A7-B544-CA96-88A8-42F0D3586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3" y="1071614"/>
            <a:ext cx="11533381" cy="249454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More advanced space telescopes will help us study distant objects.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Scientists are searching for signs of life beyond Earth.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Humans may return to the Moon and eventually travel farther into space.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Reusable spacecraft could make space travel more accessible.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Space exploration will continue to expand our understanding of the universe.</a:t>
            </a:r>
          </a:p>
          <a:p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8B3A4-9C98-31FA-F848-9FADB115465E}"/>
              </a:ext>
            </a:extLst>
          </p:cNvPr>
          <p:cNvSpPr txBox="1"/>
          <p:nvPr/>
        </p:nvSpPr>
        <p:spPr>
          <a:xfrm>
            <a:off x="2983992" y="4390886"/>
            <a:ext cx="59679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CC66"/>
                </a:solidFill>
              </a:rPr>
              <a:t>“The universe is under no obligation to make sense to you.”</a:t>
            </a:r>
          </a:p>
          <a:p>
            <a:pPr algn="ctr"/>
            <a:r>
              <a:rPr lang="en-US" sz="2800" dirty="0"/>
              <a:t>— </a:t>
            </a:r>
            <a:r>
              <a:rPr lang="en-US" sz="2400" dirty="0"/>
              <a:t>Neil deGrasse Tyson</a:t>
            </a:r>
            <a:endParaRPr lang="en-IN" sz="28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A3E4A-5ECD-4F4C-008E-06A34BC187C5}"/>
              </a:ext>
            </a:extLst>
          </p:cNvPr>
          <p:cNvSpPr txBox="1"/>
          <p:nvPr/>
        </p:nvSpPr>
        <p:spPr>
          <a:xfrm>
            <a:off x="594360" y="3105834"/>
            <a:ext cx="266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5"/>
              </a:rPr>
              <a:t>Learn more about solar system</a:t>
            </a:r>
            <a:endParaRPr lang="en-IN" sz="12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681D6-4232-E494-82CF-DFFE0E8B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21F1-740D-4AC0-B1CB-6B9EC8429E8C}" type="datetime1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A271F-1A73-5800-BA3E-1418FC97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CAMS1PO1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FE673-78EB-F616-96B6-41F630FB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E91C0-26CD-4ED6-AB47-41E004454BA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96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>
        <p:sndAc>
          <p:stSnd>
            <p:snd r:embed="rId2" name="wind.wav"/>
          </p:stSnd>
        </p:sndAc>
      </p:transition>
    </mc:Choice>
    <mc:Fallback xmlns="">
      <p:transition spd="slow" advClick="0" advTm="3000">
        <p:sndAc>
          <p:stSnd>
            <p:snd r:embed="rId6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70</TotalTime>
  <Words>281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Neue Haas Grotesk Text Pro</vt:lpstr>
      <vt:lpstr>Wingdings</vt:lpstr>
      <vt:lpstr>Film Burn</vt:lpstr>
      <vt:lpstr>EXPLORING SPACE From our solar system to universe </vt:lpstr>
      <vt:lpstr>OUR SOLAR SYSTEM</vt:lpstr>
      <vt:lpstr>A UNIVERSE OF GALAXIES</vt:lpstr>
      <vt:lpstr>HUMANS BEYOND EARTH</vt:lpstr>
      <vt:lpstr>THE FUTURE IS BEYOND EARTH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 pc</dc:creator>
  <cp:lastModifiedBy>CSD</cp:lastModifiedBy>
  <cp:revision>17</cp:revision>
  <dcterms:created xsi:type="dcterms:W3CDTF">2026-08-20T01:13:18Z</dcterms:created>
  <dcterms:modified xsi:type="dcterms:W3CDTF">2026-08-20T09:21:51Z</dcterms:modified>
</cp:coreProperties>
</file>